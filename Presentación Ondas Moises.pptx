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4" d="100"/>
          <a:sy n="104"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F87B28-AE40-839A-DF2E-A0E34F7F4E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38DA21B-F33F-8D08-E3CB-6AA896760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CC2F5488-F5CC-ADFA-AC58-C6F7B1175C7A}"/>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5" name="Marcador de pie de página 4">
            <a:extLst>
              <a:ext uri="{FF2B5EF4-FFF2-40B4-BE49-F238E27FC236}">
                <a16:creationId xmlns:a16="http://schemas.microsoft.com/office/drawing/2014/main" id="{76A541F6-A214-627D-1D65-20EC9070DC3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7440569-1E5C-339D-F044-78ED2E5DA082}"/>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413637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5714F3-116A-F984-6ADA-17CF4E8A9E1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512BE02-2EAC-3AEE-49DB-2CABCB837E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6F530B5-7CA6-E0B7-D672-8F33AB5FCEC8}"/>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5" name="Marcador de pie de página 4">
            <a:extLst>
              <a:ext uri="{FF2B5EF4-FFF2-40B4-BE49-F238E27FC236}">
                <a16:creationId xmlns:a16="http://schemas.microsoft.com/office/drawing/2014/main" id="{01C3C5AF-BA26-4AED-6D50-3F35E4CB0E7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34163A9-F1FA-B8EB-0622-985E05F31649}"/>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3311473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AC75C7-B470-F293-B049-E096F79D5DD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8C27AAC9-BBDA-D0B3-70C8-66D34A11F0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B26E605-F545-E3F8-6859-90299FCAD664}"/>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5" name="Marcador de pie de página 4">
            <a:extLst>
              <a:ext uri="{FF2B5EF4-FFF2-40B4-BE49-F238E27FC236}">
                <a16:creationId xmlns:a16="http://schemas.microsoft.com/office/drawing/2014/main" id="{D25DC75D-05E0-4F5D-F212-88B5C6670EA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24B1497-D3E1-654A-5527-50D9B4F76D5D}"/>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1347045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8037BE-154C-E479-A86B-3B13DBC67FB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2495468-53E7-67B5-DB90-FAF90567CF5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2FBB1FA-A8BA-5F4E-20A9-FBDCB0FAB21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E99F246-809D-E255-A25B-A522E972FA69}"/>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6" name="Marcador de pie de página 5">
            <a:extLst>
              <a:ext uri="{FF2B5EF4-FFF2-40B4-BE49-F238E27FC236}">
                <a16:creationId xmlns:a16="http://schemas.microsoft.com/office/drawing/2014/main" id="{20031FD4-C85C-ADE6-83AD-2AD464FA732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D17C6A7-F897-E274-CB64-7BC20774D889}"/>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4012882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760B4-BD19-48A1-69B5-1A6C13E2A3C3}"/>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BC1ADE9-AF0D-E78B-5750-AF3A792315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D102C96-7BDC-E08B-C090-6824F676812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F77006F-DE3C-3CBF-3770-08C11AB53A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FF19154-B0F2-CDDC-8BD9-6BBB70B6471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01B812C-2A77-D92E-82B9-1321FAA868C9}"/>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8" name="Marcador de pie de página 7">
            <a:extLst>
              <a:ext uri="{FF2B5EF4-FFF2-40B4-BE49-F238E27FC236}">
                <a16:creationId xmlns:a16="http://schemas.microsoft.com/office/drawing/2014/main" id="{617131B5-CE65-CA93-DF49-0B4C56687B0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48D5CD27-3D0E-DDED-0A5E-B8D9D4611BC4}"/>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647017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7BFE7C-72C3-1020-1C04-04D5CB70CA0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1AE9798-D33F-6DEF-1297-3A01A1A5F3EE}"/>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4" name="Marcador de pie de página 3">
            <a:extLst>
              <a:ext uri="{FF2B5EF4-FFF2-40B4-BE49-F238E27FC236}">
                <a16:creationId xmlns:a16="http://schemas.microsoft.com/office/drawing/2014/main" id="{2CBAD308-E79A-ECFF-77AC-F498F5CD8C8B}"/>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01D1EFA-1F02-F1EF-03F5-B15F677C02E7}"/>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274367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F8F4EA5-B08A-4F7E-7D39-2C82B0AA8A05}"/>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3" name="Marcador de pie de página 2">
            <a:extLst>
              <a:ext uri="{FF2B5EF4-FFF2-40B4-BE49-F238E27FC236}">
                <a16:creationId xmlns:a16="http://schemas.microsoft.com/office/drawing/2014/main" id="{966E8626-1D02-4BA6-B78A-FF5F4744FFA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8948BD9-7088-B956-A248-A58B51DD645A}"/>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368587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C4965A-1173-4B51-102C-0C28FC9BD04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8FDCAC1-4F58-CC6F-CD01-28B864E15D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FBE0824-E951-34DF-6304-1650881989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222893B-6B2A-3151-BE18-2CDCF715721D}"/>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6" name="Marcador de pie de página 5">
            <a:extLst>
              <a:ext uri="{FF2B5EF4-FFF2-40B4-BE49-F238E27FC236}">
                <a16:creationId xmlns:a16="http://schemas.microsoft.com/office/drawing/2014/main" id="{B36E1747-ECA0-237D-A3D2-C20763B212A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4C6D465-6A9A-301B-4614-2EEB09C51ED7}"/>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59504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FD4CB8-A933-6831-A199-7413C7A7DE8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132F737-F106-39C8-09A3-38FC5647CD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1EEAAF05-8DE7-23D8-D3DA-6B9BD89B0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361C1F1-322C-1FD6-BF47-941AB0A20626}"/>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6" name="Marcador de pie de página 5">
            <a:extLst>
              <a:ext uri="{FF2B5EF4-FFF2-40B4-BE49-F238E27FC236}">
                <a16:creationId xmlns:a16="http://schemas.microsoft.com/office/drawing/2014/main" id="{2B2ADAA9-18C8-3187-2085-4EC65F2EF47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4F85F5C-14C6-1014-7726-C44FBC542E9F}"/>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2412316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1060F8-F495-907F-5D43-39B11D1F6D6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4DD3188-5E71-BEA8-49F3-55A6DDB04D0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6CCE53A-1F8C-B610-3120-5068C04809E8}"/>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5" name="Marcador de pie de página 4">
            <a:extLst>
              <a:ext uri="{FF2B5EF4-FFF2-40B4-BE49-F238E27FC236}">
                <a16:creationId xmlns:a16="http://schemas.microsoft.com/office/drawing/2014/main" id="{0EB52606-91F9-9B29-4C7A-7DC246F9D86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65AD05C-3386-C223-4C63-DEF545EEB8C9}"/>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2579395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D7E6283-D3FC-B4CF-E350-62C29C25AD2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39E81E4-3168-BEDD-66A9-00500DDEE30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14B1329-58C0-E887-BCE5-618436200197}"/>
              </a:ext>
            </a:extLst>
          </p:cNvPr>
          <p:cNvSpPr>
            <a:spLocks noGrp="1"/>
          </p:cNvSpPr>
          <p:nvPr>
            <p:ph type="dt" sz="half" idx="10"/>
          </p:nvPr>
        </p:nvSpPr>
        <p:spPr/>
        <p:txBody>
          <a:bodyPr/>
          <a:lstStyle/>
          <a:p>
            <a:fld id="{ECAB742A-F83F-4B54-A4FA-93694DA0EAFB}" type="datetimeFigureOut">
              <a:rPr lang="es-ES" smtClean="0"/>
              <a:t>24/04/2023</a:t>
            </a:fld>
            <a:endParaRPr lang="es-ES"/>
          </a:p>
        </p:txBody>
      </p:sp>
      <p:sp>
        <p:nvSpPr>
          <p:cNvPr id="5" name="Marcador de pie de página 4">
            <a:extLst>
              <a:ext uri="{FF2B5EF4-FFF2-40B4-BE49-F238E27FC236}">
                <a16:creationId xmlns:a16="http://schemas.microsoft.com/office/drawing/2014/main" id="{96598FAF-3B3A-BB85-DCD0-D4C41BEC83A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AFE90EE-A314-C6DA-7C02-471331FAAA2C}"/>
              </a:ext>
            </a:extLst>
          </p:cNvPr>
          <p:cNvSpPr>
            <a:spLocks noGrp="1"/>
          </p:cNvSpPr>
          <p:nvPr>
            <p:ph type="sldNum" sz="quarter" idx="12"/>
          </p:nvPr>
        </p:nvSpPr>
        <p:spPr/>
        <p:txBody>
          <a:bodyPr/>
          <a:lstStyle/>
          <a:p>
            <a:fld id="{4C906A66-168A-4431-AC99-FB3E5843DE99}" type="slidenum">
              <a:rPr lang="es-ES" smtClean="0"/>
              <a:t>‹Nº›</a:t>
            </a:fld>
            <a:endParaRPr lang="es-ES"/>
          </a:p>
        </p:txBody>
      </p:sp>
    </p:spTree>
    <p:extLst>
      <p:ext uri="{BB962C8B-B14F-4D97-AF65-F5344CB8AC3E}">
        <p14:creationId xmlns:p14="http://schemas.microsoft.com/office/powerpoint/2010/main" val="1426986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FD5556B-899D-5D65-8F55-06EFD420A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BDAEA2D-F011-15EF-7433-408ED525AD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DE028AE-8CF2-5B7A-65DB-CB3D7DDBDC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AB742A-F83F-4B54-A4FA-93694DA0EAFB}" type="datetimeFigureOut">
              <a:rPr lang="es-ES" smtClean="0"/>
              <a:t>24/04/2023</a:t>
            </a:fld>
            <a:endParaRPr lang="es-ES"/>
          </a:p>
        </p:txBody>
      </p:sp>
      <p:sp>
        <p:nvSpPr>
          <p:cNvPr id="5" name="Marcador de pie de página 4">
            <a:extLst>
              <a:ext uri="{FF2B5EF4-FFF2-40B4-BE49-F238E27FC236}">
                <a16:creationId xmlns:a16="http://schemas.microsoft.com/office/drawing/2014/main" id="{B24AEFB0-C257-EE62-1D5B-1479EAAC87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0EBE996-1A98-C53B-CBBD-9D05A3D1D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906A66-168A-4431-AC99-FB3E5843DE99}" type="slidenum">
              <a:rPr lang="es-ES" smtClean="0"/>
              <a:t>‹Nº›</a:t>
            </a:fld>
            <a:endParaRPr lang="es-ES"/>
          </a:p>
        </p:txBody>
      </p:sp>
    </p:spTree>
    <p:extLst>
      <p:ext uri="{BB962C8B-B14F-4D97-AF65-F5344CB8AC3E}">
        <p14:creationId xmlns:p14="http://schemas.microsoft.com/office/powerpoint/2010/main" val="2050668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Fuerza magnetica sobre un conductor — Steemit">
            <a:extLst>
              <a:ext uri="{FF2B5EF4-FFF2-40B4-BE49-F238E27FC236}">
                <a16:creationId xmlns:a16="http://schemas.microsoft.com/office/drawing/2014/main" id="{3606084E-732D-647D-85AC-C94C265B5C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283" t="9091" r="29081"/>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0B87FC8-2AA9-A774-C2AA-5CE551280532}"/>
              </a:ext>
            </a:extLst>
          </p:cNvPr>
          <p:cNvSpPr>
            <a:spLocks noGrp="1"/>
          </p:cNvSpPr>
          <p:nvPr>
            <p:ph type="ctrTitle"/>
          </p:nvPr>
        </p:nvSpPr>
        <p:spPr>
          <a:xfrm>
            <a:off x="477981" y="1122363"/>
            <a:ext cx="4023360" cy="3204134"/>
          </a:xfrm>
        </p:spPr>
        <p:txBody>
          <a:bodyPr anchor="b">
            <a:normAutofit/>
          </a:bodyPr>
          <a:lstStyle/>
          <a:p>
            <a:pPr algn="l"/>
            <a:r>
              <a:rPr lang="es-ES" sz="4400"/>
              <a:t>Fuerza magnética sobre una corriente eléctrica</a:t>
            </a:r>
          </a:p>
        </p:txBody>
      </p:sp>
      <p:sp>
        <p:nvSpPr>
          <p:cNvPr id="3" name="Subtítulo 2">
            <a:extLst>
              <a:ext uri="{FF2B5EF4-FFF2-40B4-BE49-F238E27FC236}">
                <a16:creationId xmlns:a16="http://schemas.microsoft.com/office/drawing/2014/main" id="{AD97957B-9104-ACB3-0D3B-27ADF44D7D02}"/>
              </a:ext>
            </a:extLst>
          </p:cNvPr>
          <p:cNvSpPr>
            <a:spLocks noGrp="1"/>
          </p:cNvSpPr>
          <p:nvPr>
            <p:ph type="subTitle" idx="1"/>
          </p:nvPr>
        </p:nvSpPr>
        <p:spPr>
          <a:xfrm>
            <a:off x="477980" y="4872922"/>
            <a:ext cx="4023359" cy="1208141"/>
          </a:xfrm>
        </p:spPr>
        <p:txBody>
          <a:bodyPr>
            <a:normAutofit/>
          </a:bodyPr>
          <a:lstStyle/>
          <a:p>
            <a:pPr algn="l"/>
            <a:r>
              <a:rPr lang="es-ES" sz="2000"/>
              <a:t>Moisés Montes Iglesias</a:t>
            </a:r>
          </a:p>
        </p:txBody>
      </p:sp>
      <p:sp>
        <p:nvSpPr>
          <p:cNvPr id="1035" name="Rectangle 10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2097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Flowchart: Document 24">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745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CF20E6-7ADD-AF15-2586-1A44CE1C0F7E}"/>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err="1">
                <a:solidFill>
                  <a:srgbClr val="FFFFFF"/>
                </a:solidFill>
                <a:latin typeface="+mj-lt"/>
                <a:ea typeface="+mj-ea"/>
                <a:cs typeface="+mj-cs"/>
              </a:rPr>
              <a:t>Fundamento</a:t>
            </a:r>
            <a:r>
              <a:rPr lang="en-US" sz="3200" kern="1200" dirty="0">
                <a:solidFill>
                  <a:srgbClr val="FFFFFF"/>
                </a:solidFill>
                <a:latin typeface="+mj-lt"/>
                <a:ea typeface="+mj-ea"/>
                <a:cs typeface="+mj-cs"/>
              </a:rPr>
              <a:t> </a:t>
            </a:r>
            <a:r>
              <a:rPr lang="en-US" sz="3200" kern="1200" dirty="0" err="1">
                <a:solidFill>
                  <a:srgbClr val="FFFFFF"/>
                </a:solidFill>
                <a:latin typeface="+mj-lt"/>
                <a:ea typeface="+mj-ea"/>
                <a:cs typeface="+mj-cs"/>
              </a:rPr>
              <a:t>teórico</a:t>
            </a:r>
            <a:r>
              <a:rPr lang="en-US" sz="3200" kern="1200" dirty="0">
                <a:solidFill>
                  <a:srgbClr val="FFFFFF"/>
                </a:solidFill>
                <a:latin typeface="+mj-lt"/>
                <a:ea typeface="+mj-ea"/>
                <a:cs typeface="+mj-cs"/>
              </a:rPr>
              <a:t> </a:t>
            </a:r>
            <a:r>
              <a:rPr lang="en-US" sz="3200" dirty="0">
                <a:solidFill>
                  <a:srgbClr val="FFFFFF"/>
                </a:solidFill>
              </a:rPr>
              <a:t>para </a:t>
            </a:r>
            <a:r>
              <a:rPr lang="en-US" sz="3200" kern="1200" dirty="0">
                <a:solidFill>
                  <a:srgbClr val="FFFFFF"/>
                </a:solidFill>
                <a:latin typeface="+mj-lt"/>
                <a:ea typeface="+mj-ea"/>
                <a:cs typeface="+mj-cs"/>
              </a:rPr>
              <a:t>la </a:t>
            </a:r>
            <a:r>
              <a:rPr lang="en-US" sz="3200" kern="1200" dirty="0" err="1">
                <a:solidFill>
                  <a:srgbClr val="FFFFFF"/>
                </a:solidFill>
                <a:latin typeface="+mj-lt"/>
                <a:ea typeface="+mj-ea"/>
                <a:cs typeface="+mj-cs"/>
              </a:rPr>
              <a:t>realización</a:t>
            </a:r>
            <a:r>
              <a:rPr lang="en-US" sz="3200" kern="1200" dirty="0">
                <a:solidFill>
                  <a:srgbClr val="FFFFFF"/>
                </a:solidFill>
                <a:latin typeface="+mj-lt"/>
                <a:ea typeface="+mj-ea"/>
                <a:cs typeface="+mj-cs"/>
              </a:rPr>
              <a:t> de la </a:t>
            </a:r>
            <a:r>
              <a:rPr lang="en-US" sz="3200" kern="1200" dirty="0" err="1">
                <a:solidFill>
                  <a:srgbClr val="FFFFFF"/>
                </a:solidFill>
                <a:latin typeface="+mj-lt"/>
                <a:ea typeface="+mj-ea"/>
                <a:cs typeface="+mj-cs"/>
              </a:rPr>
              <a:t>práctica</a:t>
            </a:r>
            <a:endParaRPr lang="en-US" sz="3200" kern="1200" dirty="0">
              <a:solidFill>
                <a:srgbClr val="FFFFFF"/>
              </a:solidFill>
              <a:latin typeface="+mj-lt"/>
              <a:ea typeface="+mj-ea"/>
              <a:cs typeface="+mj-cs"/>
            </a:endParaRPr>
          </a:p>
        </p:txBody>
      </p:sp>
      <p:pic>
        <p:nvPicPr>
          <p:cNvPr id="4" name="Marcador de contenido 3" descr="Teclado y ratón de computadora&#10;&#10;Descripción generada automáticamente con confianza media">
            <a:extLst>
              <a:ext uri="{FF2B5EF4-FFF2-40B4-BE49-F238E27FC236}">
                <a16:creationId xmlns:a16="http://schemas.microsoft.com/office/drawing/2014/main" id="{F947FCD2-86A8-D610-DFF1-92D8F579AF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207933" y="683346"/>
            <a:ext cx="7347537" cy="5492283"/>
          </a:xfrm>
          <a:prstGeom prst="rect">
            <a:avLst/>
          </a:prstGeom>
          <a:solidFill>
            <a:schemeClr val="tx1">
              <a:alpha val="75000"/>
            </a:schemeClr>
          </a:solidFill>
        </p:spPr>
      </p:pic>
      <p:sp>
        <p:nvSpPr>
          <p:cNvPr id="5" name="CuadroTexto 4">
            <a:extLst>
              <a:ext uri="{FF2B5EF4-FFF2-40B4-BE49-F238E27FC236}">
                <a16:creationId xmlns:a16="http://schemas.microsoft.com/office/drawing/2014/main" id="{8D8ED6F0-CB4C-DC64-FB83-2D898CB1E73D}"/>
              </a:ext>
            </a:extLst>
          </p:cNvPr>
          <p:cNvSpPr txBox="1"/>
          <p:nvPr/>
        </p:nvSpPr>
        <p:spPr>
          <a:xfrm>
            <a:off x="638175" y="3464932"/>
            <a:ext cx="3040207" cy="3416320"/>
          </a:xfrm>
          <a:prstGeom prst="rect">
            <a:avLst/>
          </a:prstGeom>
          <a:noFill/>
        </p:spPr>
        <p:txBody>
          <a:bodyPr wrap="square" rtlCol="0">
            <a:spAutoFit/>
          </a:bodyPr>
          <a:lstStyle/>
          <a:p>
            <a:r>
              <a:rPr lang="es-ES" dirty="0"/>
              <a:t>Fuerza de Lorentz</a:t>
            </a:r>
          </a:p>
          <a:p>
            <a:endParaRPr lang="es-ES" dirty="0"/>
          </a:p>
          <a:p>
            <a:r>
              <a:rPr lang="es-ES" dirty="0"/>
              <a:t>Fuerza en un hilo </a:t>
            </a:r>
          </a:p>
          <a:p>
            <a:r>
              <a:rPr lang="es-ES" dirty="0"/>
              <a:t>sobre el que circula</a:t>
            </a:r>
          </a:p>
          <a:p>
            <a:r>
              <a:rPr lang="es-ES" dirty="0"/>
              <a:t>una corriente</a:t>
            </a:r>
          </a:p>
          <a:p>
            <a:endParaRPr lang="es-ES" dirty="0"/>
          </a:p>
          <a:p>
            <a:r>
              <a:rPr lang="es-ES" dirty="0"/>
              <a:t>Fórmula usada : F = I*L*B</a:t>
            </a:r>
          </a:p>
          <a:p>
            <a:r>
              <a:rPr lang="es-ES" dirty="0"/>
              <a:t>F = Fuerza (N)</a:t>
            </a:r>
          </a:p>
          <a:p>
            <a:r>
              <a:rPr lang="es-ES" dirty="0"/>
              <a:t>L = Longitud del hilo (m)</a:t>
            </a:r>
          </a:p>
          <a:p>
            <a:r>
              <a:rPr lang="es-ES" dirty="0"/>
              <a:t>I = Corriente (A)</a:t>
            </a:r>
          </a:p>
          <a:p>
            <a:r>
              <a:rPr lang="es-ES" dirty="0"/>
              <a:t>B = Campo magnético (T)</a:t>
            </a:r>
          </a:p>
          <a:p>
            <a:endParaRPr lang="es-ES" dirty="0"/>
          </a:p>
        </p:txBody>
      </p:sp>
      <p:pic>
        <p:nvPicPr>
          <p:cNvPr id="7" name="Imagen 6" descr="Dibujo de una persona&#10;&#10;Descripción generada automáticamente con confianza baja">
            <a:extLst>
              <a:ext uri="{FF2B5EF4-FFF2-40B4-BE49-F238E27FC236}">
                <a16:creationId xmlns:a16="http://schemas.microsoft.com/office/drawing/2014/main" id="{DFAD3F82-74B0-46F7-0A50-5A8049957B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99337" y="3464932"/>
            <a:ext cx="1500778" cy="369332"/>
          </a:xfrm>
          <a:prstGeom prst="rect">
            <a:avLst/>
          </a:prstGeom>
        </p:spPr>
      </p:pic>
      <p:pic>
        <p:nvPicPr>
          <p:cNvPr id="9" name="Imagen 8">
            <a:extLst>
              <a:ext uri="{FF2B5EF4-FFF2-40B4-BE49-F238E27FC236}">
                <a16:creationId xmlns:a16="http://schemas.microsoft.com/office/drawing/2014/main" id="{9F592953-116B-4037-FF05-5FCC4B8559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4886" y="4247288"/>
            <a:ext cx="1338272" cy="395109"/>
          </a:xfrm>
          <a:prstGeom prst="rect">
            <a:avLst/>
          </a:prstGeom>
        </p:spPr>
      </p:pic>
    </p:spTree>
    <p:extLst>
      <p:ext uri="{BB962C8B-B14F-4D97-AF65-F5344CB8AC3E}">
        <p14:creationId xmlns:p14="http://schemas.microsoft.com/office/powerpoint/2010/main" val="1391600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CDC7E0-7161-0218-C255-0B8CA293E31F}"/>
              </a:ext>
            </a:extLst>
          </p:cNvPr>
          <p:cNvSpPr>
            <a:spLocks noGrp="1"/>
          </p:cNvSpPr>
          <p:nvPr>
            <p:ph type="title"/>
          </p:nvPr>
        </p:nvSpPr>
        <p:spPr/>
        <p:txBody>
          <a:bodyPr/>
          <a:lstStyle/>
          <a:p>
            <a:r>
              <a:rPr lang="es-ES" dirty="0"/>
              <a:t>Materiales y procedimiento experimental</a:t>
            </a:r>
          </a:p>
        </p:txBody>
      </p:sp>
      <p:pic>
        <p:nvPicPr>
          <p:cNvPr id="4" name="Marcador de contenido 3" descr="Fuente de alimentación para laboratorio - 0-30 V - 0-5 A DC - 150 W">
            <a:extLst>
              <a:ext uri="{FF2B5EF4-FFF2-40B4-BE49-F238E27FC236}">
                <a16:creationId xmlns:a16="http://schemas.microsoft.com/office/drawing/2014/main" id="{70CA55A6-0A22-D002-475C-180746CCC3F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157299" y="1952676"/>
            <a:ext cx="1575262" cy="1575262"/>
          </a:xfrm>
          <a:prstGeom prst="rect">
            <a:avLst/>
          </a:prstGeom>
          <a:noFill/>
          <a:ln>
            <a:noFill/>
          </a:ln>
        </p:spPr>
      </p:pic>
      <p:pic>
        <p:nvPicPr>
          <p:cNvPr id="5" name="Imagen 4">
            <a:extLst>
              <a:ext uri="{FF2B5EF4-FFF2-40B4-BE49-F238E27FC236}">
                <a16:creationId xmlns:a16="http://schemas.microsoft.com/office/drawing/2014/main" id="{940E4AC0-804A-BDE8-A3B9-D92D01D698E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8170" y="1690688"/>
            <a:ext cx="2239995" cy="1883701"/>
          </a:xfrm>
          <a:prstGeom prst="rect">
            <a:avLst/>
          </a:prstGeom>
          <a:noFill/>
          <a:ln>
            <a:noFill/>
          </a:ln>
        </p:spPr>
      </p:pic>
      <p:pic>
        <p:nvPicPr>
          <p:cNvPr id="6" name="Imagen 5" descr="Imagen que contiene cuarto&#10;&#10;Descripción generada automáticamente">
            <a:extLst>
              <a:ext uri="{FF2B5EF4-FFF2-40B4-BE49-F238E27FC236}">
                <a16:creationId xmlns:a16="http://schemas.microsoft.com/office/drawing/2014/main" id="{19BA4DFE-1B2D-04C0-EBF0-9A423B78C4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49474" y="1671118"/>
            <a:ext cx="3019619" cy="2011039"/>
          </a:xfrm>
          <a:prstGeom prst="rect">
            <a:avLst/>
          </a:prstGeom>
        </p:spPr>
      </p:pic>
      <p:pic>
        <p:nvPicPr>
          <p:cNvPr id="7" name="Imagen 6" descr="Imagen que contiene interior, tabla, lavabo&#10;&#10;Descripción generada automáticamente">
            <a:extLst>
              <a:ext uri="{FF2B5EF4-FFF2-40B4-BE49-F238E27FC236}">
                <a16:creationId xmlns:a16="http://schemas.microsoft.com/office/drawing/2014/main" id="{2E617A88-C021-74CE-999D-009E1ADF4F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4280" y="4156155"/>
            <a:ext cx="2561300" cy="1844879"/>
          </a:xfrm>
          <a:prstGeom prst="rect">
            <a:avLst/>
          </a:prstGeom>
        </p:spPr>
      </p:pic>
      <p:pic>
        <p:nvPicPr>
          <p:cNvPr id="8" name="Imagen 7">
            <a:extLst>
              <a:ext uri="{FF2B5EF4-FFF2-40B4-BE49-F238E27FC236}">
                <a16:creationId xmlns:a16="http://schemas.microsoft.com/office/drawing/2014/main" id="{25AB1755-94C3-491E-BADB-53D42FD0B2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38170" y="4139854"/>
            <a:ext cx="2277496" cy="1861180"/>
          </a:xfrm>
          <a:prstGeom prst="rect">
            <a:avLst/>
          </a:prstGeom>
        </p:spPr>
      </p:pic>
      <p:pic>
        <p:nvPicPr>
          <p:cNvPr id="9" name="Imagen 8">
            <a:extLst>
              <a:ext uri="{FF2B5EF4-FFF2-40B4-BE49-F238E27FC236}">
                <a16:creationId xmlns:a16="http://schemas.microsoft.com/office/drawing/2014/main" id="{656FEFCD-27ED-6A46-05A4-7FD4F8DDD74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115083" y="4241855"/>
            <a:ext cx="4888402" cy="2264270"/>
          </a:xfrm>
          <a:prstGeom prst="rect">
            <a:avLst/>
          </a:prstGeom>
          <a:noFill/>
          <a:ln>
            <a:noFill/>
          </a:ln>
        </p:spPr>
      </p:pic>
      <p:sp>
        <p:nvSpPr>
          <p:cNvPr id="3" name="CuadroTexto 2">
            <a:extLst>
              <a:ext uri="{FF2B5EF4-FFF2-40B4-BE49-F238E27FC236}">
                <a16:creationId xmlns:a16="http://schemas.microsoft.com/office/drawing/2014/main" id="{A986629E-2967-0F34-7EF1-A377C0661CC3}"/>
              </a:ext>
            </a:extLst>
          </p:cNvPr>
          <p:cNvSpPr txBox="1"/>
          <p:nvPr/>
        </p:nvSpPr>
        <p:spPr>
          <a:xfrm>
            <a:off x="747294" y="3578330"/>
            <a:ext cx="2395271" cy="369332"/>
          </a:xfrm>
          <a:prstGeom prst="rect">
            <a:avLst/>
          </a:prstGeom>
          <a:noFill/>
        </p:spPr>
        <p:txBody>
          <a:bodyPr wrap="none" rtlCol="0">
            <a:spAutoFit/>
          </a:bodyPr>
          <a:lstStyle/>
          <a:p>
            <a:r>
              <a:rPr lang="es-ES" dirty="0"/>
              <a:t>Fuente de alimentación</a:t>
            </a:r>
          </a:p>
        </p:txBody>
      </p:sp>
      <p:sp>
        <p:nvSpPr>
          <p:cNvPr id="10" name="CuadroTexto 9">
            <a:extLst>
              <a:ext uri="{FF2B5EF4-FFF2-40B4-BE49-F238E27FC236}">
                <a16:creationId xmlns:a16="http://schemas.microsoft.com/office/drawing/2014/main" id="{57E02315-3BBD-8F49-9FFE-162865B30A75}"/>
              </a:ext>
            </a:extLst>
          </p:cNvPr>
          <p:cNvSpPr txBox="1"/>
          <p:nvPr/>
        </p:nvSpPr>
        <p:spPr>
          <a:xfrm>
            <a:off x="4606280" y="3616835"/>
            <a:ext cx="903774" cy="369332"/>
          </a:xfrm>
          <a:prstGeom prst="rect">
            <a:avLst/>
          </a:prstGeom>
          <a:noFill/>
        </p:spPr>
        <p:txBody>
          <a:bodyPr wrap="none" rtlCol="0">
            <a:spAutoFit/>
          </a:bodyPr>
          <a:lstStyle/>
          <a:p>
            <a:r>
              <a:rPr lang="es-ES" dirty="0"/>
              <a:t>Balanza</a:t>
            </a:r>
          </a:p>
        </p:txBody>
      </p:sp>
      <p:sp>
        <p:nvSpPr>
          <p:cNvPr id="11" name="CuadroTexto 10">
            <a:extLst>
              <a:ext uri="{FF2B5EF4-FFF2-40B4-BE49-F238E27FC236}">
                <a16:creationId xmlns:a16="http://schemas.microsoft.com/office/drawing/2014/main" id="{596FE216-29B6-53BC-2A23-9FEEF3323ABF}"/>
              </a:ext>
            </a:extLst>
          </p:cNvPr>
          <p:cNvSpPr txBox="1"/>
          <p:nvPr/>
        </p:nvSpPr>
        <p:spPr>
          <a:xfrm>
            <a:off x="4718445" y="6258910"/>
            <a:ext cx="659155" cy="369332"/>
          </a:xfrm>
          <a:prstGeom prst="rect">
            <a:avLst/>
          </a:prstGeom>
          <a:noFill/>
        </p:spPr>
        <p:txBody>
          <a:bodyPr wrap="none" rtlCol="0">
            <a:spAutoFit/>
          </a:bodyPr>
          <a:lstStyle/>
          <a:p>
            <a:r>
              <a:rPr lang="es-ES" dirty="0"/>
              <a:t>Imán</a:t>
            </a:r>
          </a:p>
        </p:txBody>
      </p:sp>
      <p:sp>
        <p:nvSpPr>
          <p:cNvPr id="12" name="CuadroTexto 11">
            <a:extLst>
              <a:ext uri="{FF2B5EF4-FFF2-40B4-BE49-F238E27FC236}">
                <a16:creationId xmlns:a16="http://schemas.microsoft.com/office/drawing/2014/main" id="{6531FF5D-8480-D50D-8F67-8932816486ED}"/>
              </a:ext>
            </a:extLst>
          </p:cNvPr>
          <p:cNvSpPr txBox="1"/>
          <p:nvPr/>
        </p:nvSpPr>
        <p:spPr>
          <a:xfrm>
            <a:off x="1347693" y="6209527"/>
            <a:ext cx="996555" cy="369332"/>
          </a:xfrm>
          <a:prstGeom prst="rect">
            <a:avLst/>
          </a:prstGeom>
          <a:noFill/>
        </p:spPr>
        <p:txBody>
          <a:bodyPr wrap="none" rtlCol="0">
            <a:spAutoFit/>
          </a:bodyPr>
          <a:lstStyle/>
          <a:p>
            <a:r>
              <a:rPr lang="es-ES" dirty="0"/>
              <a:t>Circuitos</a:t>
            </a:r>
          </a:p>
        </p:txBody>
      </p:sp>
      <p:sp>
        <p:nvSpPr>
          <p:cNvPr id="13" name="CuadroTexto 12">
            <a:extLst>
              <a:ext uri="{FF2B5EF4-FFF2-40B4-BE49-F238E27FC236}">
                <a16:creationId xmlns:a16="http://schemas.microsoft.com/office/drawing/2014/main" id="{24E72C6B-D337-099B-F53A-A1CA9958E1B2}"/>
              </a:ext>
            </a:extLst>
          </p:cNvPr>
          <p:cNvSpPr txBox="1"/>
          <p:nvPr/>
        </p:nvSpPr>
        <p:spPr>
          <a:xfrm>
            <a:off x="9179210" y="3777340"/>
            <a:ext cx="925959" cy="369332"/>
          </a:xfrm>
          <a:prstGeom prst="rect">
            <a:avLst/>
          </a:prstGeom>
          <a:noFill/>
        </p:spPr>
        <p:txBody>
          <a:bodyPr wrap="none" rtlCol="0">
            <a:spAutoFit/>
          </a:bodyPr>
          <a:lstStyle/>
          <a:p>
            <a:r>
              <a:rPr lang="es-ES" dirty="0"/>
              <a:t>Soporte</a:t>
            </a:r>
          </a:p>
        </p:txBody>
      </p:sp>
    </p:spTree>
    <p:extLst>
      <p:ext uri="{BB962C8B-B14F-4D97-AF65-F5344CB8AC3E}">
        <p14:creationId xmlns:p14="http://schemas.microsoft.com/office/powerpoint/2010/main" val="438789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DCCF97-CCB8-449C-9BFA-32124BDE79E6}"/>
              </a:ext>
            </a:extLst>
          </p:cNvPr>
          <p:cNvSpPr>
            <a:spLocks noGrp="1"/>
          </p:cNvSpPr>
          <p:nvPr>
            <p:ph type="title"/>
          </p:nvPr>
        </p:nvSpPr>
        <p:spPr/>
        <p:txBody>
          <a:bodyPr/>
          <a:lstStyle/>
          <a:p>
            <a:r>
              <a:rPr lang="es-ES" dirty="0"/>
              <a:t>Procedimiento para la práctica</a:t>
            </a:r>
          </a:p>
        </p:txBody>
      </p:sp>
      <p:sp>
        <p:nvSpPr>
          <p:cNvPr id="3" name="Marcador de contenido 2">
            <a:extLst>
              <a:ext uri="{FF2B5EF4-FFF2-40B4-BE49-F238E27FC236}">
                <a16:creationId xmlns:a16="http://schemas.microsoft.com/office/drawing/2014/main" id="{C3268AEA-BDE2-7FBC-E425-0CEF601F2225}"/>
              </a:ext>
            </a:extLst>
          </p:cNvPr>
          <p:cNvSpPr>
            <a:spLocks noGrp="1"/>
          </p:cNvSpPr>
          <p:nvPr>
            <p:ph idx="1"/>
          </p:nvPr>
        </p:nvSpPr>
        <p:spPr/>
        <p:txBody>
          <a:bodyPr/>
          <a:lstStyle/>
          <a:p>
            <a:pPr marL="0" indent="0">
              <a:buNone/>
            </a:pPr>
            <a:r>
              <a:rPr lang="es-ES" dirty="0"/>
              <a:t>Colocamos encima de una balanza el imán sobre el que posicionaremos el circuito. Mediante el uso del soporte fijo, sujetaremos el circuito en un punto intermedio entre los polos del imán donde no tocaremos con el circuito en ningún momento el imán.</a:t>
            </a:r>
          </a:p>
          <a:p>
            <a:pPr marL="0" indent="0">
              <a:buNone/>
            </a:pPr>
            <a:r>
              <a:rPr lang="es-ES" dirty="0"/>
              <a:t>Para hallar diferentes valores solo debemos cambiar la corriente generada por la fuente de alimentación y los circuitos sujetados por el soporte.</a:t>
            </a:r>
          </a:p>
        </p:txBody>
      </p:sp>
    </p:spTree>
    <p:extLst>
      <p:ext uri="{BB962C8B-B14F-4D97-AF65-F5344CB8AC3E}">
        <p14:creationId xmlns:p14="http://schemas.microsoft.com/office/powerpoint/2010/main" val="9012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3A9CEC8-4531-5B9B-FB03-7379E44B2033}"/>
              </a:ext>
            </a:extLst>
          </p:cNvPr>
          <p:cNvSpPr>
            <a:spLocks noGrp="1"/>
          </p:cNvSpPr>
          <p:nvPr>
            <p:ph type="title"/>
          </p:nvPr>
        </p:nvSpPr>
        <p:spPr>
          <a:xfrm>
            <a:off x="898634" y="1967266"/>
            <a:ext cx="2758966" cy="2547257"/>
          </a:xfrm>
          <a:noFill/>
        </p:spPr>
        <p:txBody>
          <a:bodyPr vert="horz" lIns="91440" tIns="45720" rIns="91440" bIns="45720" rtlCol="0" anchor="ctr">
            <a:normAutofit fontScale="90000"/>
          </a:bodyPr>
          <a:lstStyle/>
          <a:p>
            <a:pPr algn="ctr"/>
            <a:r>
              <a:rPr lang="en-US" sz="3600" kern="1200" dirty="0" err="1">
                <a:solidFill>
                  <a:srgbClr val="FFFFFF"/>
                </a:solidFill>
                <a:latin typeface="+mj-lt"/>
                <a:ea typeface="+mj-ea"/>
                <a:cs typeface="+mj-cs"/>
              </a:rPr>
              <a:t>Análisi</a:t>
            </a:r>
            <a:r>
              <a:rPr lang="en-US" sz="3600" dirty="0" err="1">
                <a:solidFill>
                  <a:srgbClr val="FFFFFF"/>
                </a:solidFill>
              </a:rPr>
              <a:t>s</a:t>
            </a:r>
            <a:r>
              <a:rPr lang="en-US" sz="3600" dirty="0">
                <a:solidFill>
                  <a:srgbClr val="FFFFFF"/>
                </a:solidFill>
              </a:rPr>
              <a:t>. </a:t>
            </a:r>
            <a:r>
              <a:rPr lang="en-US" sz="3600" dirty="0" err="1">
                <a:solidFill>
                  <a:srgbClr val="FFFFFF"/>
                </a:solidFill>
              </a:rPr>
              <a:t>Fuerza</a:t>
            </a:r>
            <a:r>
              <a:rPr lang="en-US" sz="3600" dirty="0">
                <a:solidFill>
                  <a:srgbClr val="FFFFFF"/>
                </a:solidFill>
              </a:rPr>
              <a:t> </a:t>
            </a:r>
            <a:r>
              <a:rPr lang="en-US" sz="3600" dirty="0" err="1">
                <a:solidFill>
                  <a:srgbClr val="FFFFFF"/>
                </a:solidFill>
              </a:rPr>
              <a:t>en</a:t>
            </a:r>
            <a:r>
              <a:rPr lang="en-US" sz="3600" dirty="0">
                <a:solidFill>
                  <a:srgbClr val="FFFFFF"/>
                </a:solidFill>
              </a:rPr>
              <a:t> </a:t>
            </a:r>
            <a:r>
              <a:rPr lang="en-US" sz="3600" dirty="0" err="1">
                <a:solidFill>
                  <a:srgbClr val="FFFFFF"/>
                </a:solidFill>
              </a:rPr>
              <a:t>función</a:t>
            </a:r>
            <a:r>
              <a:rPr lang="en-US" sz="3600" dirty="0">
                <a:solidFill>
                  <a:srgbClr val="FFFFFF"/>
                </a:solidFill>
              </a:rPr>
              <a:t> de la </a:t>
            </a:r>
            <a:r>
              <a:rPr lang="en-US" sz="3600" dirty="0" err="1">
                <a:solidFill>
                  <a:srgbClr val="FFFFFF"/>
                </a:solidFill>
              </a:rPr>
              <a:t>corriente</a:t>
            </a:r>
            <a:r>
              <a:rPr lang="en-US" sz="3600" dirty="0">
                <a:solidFill>
                  <a:srgbClr val="FFFFFF"/>
                </a:solidFill>
              </a:rPr>
              <a:t>. </a:t>
            </a:r>
            <a:r>
              <a:rPr lang="en-US" sz="3600" dirty="0" err="1">
                <a:solidFill>
                  <a:srgbClr val="FFFFFF"/>
                </a:solidFill>
              </a:rPr>
              <a:t>Cálculo</a:t>
            </a:r>
            <a:r>
              <a:rPr lang="en-US" sz="3600" dirty="0">
                <a:solidFill>
                  <a:srgbClr val="FFFFFF"/>
                </a:solidFill>
              </a:rPr>
              <a:t> del campo </a:t>
            </a:r>
            <a:r>
              <a:rPr lang="en-US" sz="3600" dirty="0" err="1">
                <a:solidFill>
                  <a:srgbClr val="FFFFFF"/>
                </a:solidFill>
              </a:rPr>
              <a:t>magnético</a:t>
            </a:r>
            <a:endParaRPr lang="en-US" sz="3600" kern="1200" dirty="0">
              <a:solidFill>
                <a:srgbClr val="FFFFFF"/>
              </a:solidFill>
              <a:latin typeface="+mj-lt"/>
              <a:ea typeface="+mj-ea"/>
              <a:cs typeface="+mj-cs"/>
            </a:endParaRPr>
          </a:p>
        </p:txBody>
      </p:sp>
      <p:pic>
        <p:nvPicPr>
          <p:cNvPr id="4" name="Marcador de contenido 3" descr="Gráfico, Gráfico de dispersión&#10;&#10;Descripción generada automáticamente">
            <a:extLst>
              <a:ext uri="{FF2B5EF4-FFF2-40B4-BE49-F238E27FC236}">
                <a16:creationId xmlns:a16="http://schemas.microsoft.com/office/drawing/2014/main" id="{5921E401-7B24-2BF3-02AF-3E3DF5D2C42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86070" y="2541097"/>
            <a:ext cx="6780700" cy="3435382"/>
          </a:xfrm>
          <a:prstGeom prst="rect">
            <a:avLst/>
          </a:prstGeom>
        </p:spPr>
      </p:pic>
      <p:sp>
        <p:nvSpPr>
          <p:cNvPr id="3" name="CuadroTexto 2">
            <a:extLst>
              <a:ext uri="{FF2B5EF4-FFF2-40B4-BE49-F238E27FC236}">
                <a16:creationId xmlns:a16="http://schemas.microsoft.com/office/drawing/2014/main" id="{C7A0026B-E775-69F7-28C7-951496C17A84}"/>
              </a:ext>
            </a:extLst>
          </p:cNvPr>
          <p:cNvSpPr txBox="1"/>
          <p:nvPr/>
        </p:nvSpPr>
        <p:spPr>
          <a:xfrm>
            <a:off x="5045825" y="881521"/>
            <a:ext cx="6620945" cy="1384995"/>
          </a:xfrm>
          <a:prstGeom prst="rect">
            <a:avLst/>
          </a:prstGeom>
          <a:noFill/>
        </p:spPr>
        <p:txBody>
          <a:bodyPr wrap="square" rtlCol="0">
            <a:spAutoFit/>
          </a:bodyPr>
          <a:lstStyle/>
          <a:p>
            <a:r>
              <a:rPr lang="es-ES" sz="1400" dirty="0"/>
              <a:t>Buscamos verificar que la fuerza sobre una corriente es proporcional a la corriente. </a:t>
            </a:r>
          </a:p>
          <a:p>
            <a:r>
              <a:rPr lang="es-ES" sz="1400" dirty="0"/>
              <a:t>Esta gráfica representa la medición de la fuerza magnética en intervalos de 0,5 A.</a:t>
            </a:r>
          </a:p>
          <a:p>
            <a:r>
              <a:rPr lang="es-ES" sz="1400" dirty="0"/>
              <a:t>Ajustamos los valores mediante una regresión lineal, obteniendo: m, n y sus respectivos errores.</a:t>
            </a:r>
          </a:p>
          <a:p>
            <a:r>
              <a:rPr lang="es-ES" sz="1400" dirty="0"/>
              <a:t>Finalmente, por fórmula (B = m/L), hallamos el valor del campo magnético, para posteriormente, a partir de la teoría de errores, calcular el error del campo magnético.</a:t>
            </a:r>
          </a:p>
        </p:txBody>
      </p:sp>
    </p:spTree>
    <p:extLst>
      <p:ext uri="{BB962C8B-B14F-4D97-AF65-F5344CB8AC3E}">
        <p14:creationId xmlns:p14="http://schemas.microsoft.com/office/powerpoint/2010/main" val="58770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0A9239E-B87C-F6E4-1801-B88149ECA60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Análisis. Fuerza en función de la longitud. Medida del campo magnético.</a:t>
            </a:r>
          </a:p>
        </p:txBody>
      </p:sp>
      <p:pic>
        <p:nvPicPr>
          <p:cNvPr id="4" name="Marcador de contenido 3" descr="Gráfico, Gráfico de dispersión&#10;&#10;Descripción generada automáticamente">
            <a:extLst>
              <a:ext uri="{FF2B5EF4-FFF2-40B4-BE49-F238E27FC236}">
                <a16:creationId xmlns:a16="http://schemas.microsoft.com/office/drawing/2014/main" id="{446456D4-A0E0-9EDA-FB0A-8F5C25AD9CF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62697" y="2876203"/>
            <a:ext cx="6674145" cy="3753281"/>
          </a:xfrm>
          <a:prstGeom prst="rect">
            <a:avLst/>
          </a:prstGeom>
        </p:spPr>
      </p:pic>
      <p:sp>
        <p:nvSpPr>
          <p:cNvPr id="3" name="CuadroTexto 2">
            <a:extLst>
              <a:ext uri="{FF2B5EF4-FFF2-40B4-BE49-F238E27FC236}">
                <a16:creationId xmlns:a16="http://schemas.microsoft.com/office/drawing/2014/main" id="{3DB60FBA-2D44-4C0E-5450-6266AE53FDB8}"/>
              </a:ext>
            </a:extLst>
          </p:cNvPr>
          <p:cNvSpPr txBox="1"/>
          <p:nvPr/>
        </p:nvSpPr>
        <p:spPr>
          <a:xfrm>
            <a:off x="4962697" y="558356"/>
            <a:ext cx="6511881" cy="2031325"/>
          </a:xfrm>
          <a:prstGeom prst="rect">
            <a:avLst/>
          </a:prstGeom>
          <a:noFill/>
        </p:spPr>
        <p:txBody>
          <a:bodyPr wrap="square" rtlCol="0">
            <a:spAutoFit/>
          </a:bodyPr>
          <a:lstStyle/>
          <a:p>
            <a:r>
              <a:rPr lang="es-ES" sz="1400" dirty="0"/>
              <a:t>Buscamos verificar que la fuerza sobre una corriente es proporcional a su longitud. </a:t>
            </a:r>
          </a:p>
          <a:p>
            <a:r>
              <a:rPr lang="es-ES" sz="1400" dirty="0"/>
              <a:t>Calculamos la fuerza magnética para cada espira de corriente manteniendo siempre la misma intensidad (2 A).</a:t>
            </a:r>
          </a:p>
          <a:p>
            <a:r>
              <a:rPr lang="es-ES" sz="1400" dirty="0"/>
              <a:t>Ajustamos los valores mediante una regresión lineal, obteniendo: m, n y sus respectivos errores.</a:t>
            </a:r>
          </a:p>
          <a:p>
            <a:r>
              <a:rPr lang="es-ES" sz="1400" dirty="0"/>
              <a:t>Finalmente, por fórmula (B = m/L), hallamos el valor del campo magnético, para posteriormente, a partir de la teoría de errores, calcular el error del campo magnético.</a:t>
            </a:r>
          </a:p>
          <a:p>
            <a:r>
              <a:rPr lang="es-ES" sz="1400" dirty="0"/>
              <a:t>Dato a tener en cuenta: La longitud efectiva es 2mm menos en conductores sencillos y 4 mm en los dobles</a:t>
            </a:r>
          </a:p>
        </p:txBody>
      </p:sp>
    </p:spTree>
    <p:extLst>
      <p:ext uri="{BB962C8B-B14F-4D97-AF65-F5344CB8AC3E}">
        <p14:creationId xmlns:p14="http://schemas.microsoft.com/office/powerpoint/2010/main" val="1784895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610536-67EE-B9FE-832C-0F6817D4CFB5}"/>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21DFD023-5F03-75D4-D939-45A6E3D9E605}"/>
              </a:ext>
            </a:extLst>
          </p:cNvPr>
          <p:cNvSpPr>
            <a:spLocks noGrp="1"/>
          </p:cNvSpPr>
          <p:nvPr>
            <p:ph idx="1"/>
          </p:nvPr>
        </p:nvSpPr>
        <p:spPr/>
        <p:txBody>
          <a:bodyPr/>
          <a:lstStyle/>
          <a:p>
            <a:r>
              <a:rPr lang="es-ES" dirty="0"/>
              <a:t>I, B, L y F </a:t>
            </a:r>
            <a:r>
              <a:rPr lang="es-ES" dirty="0">
                <a:sym typeface="Wingdings" panose="05000000000000000000" pitchFamily="2" charset="2"/>
              </a:rPr>
              <a:t></a:t>
            </a:r>
            <a:r>
              <a:rPr lang="es-ES" dirty="0"/>
              <a:t> directamente proporcionales </a:t>
            </a:r>
            <a:r>
              <a:rPr lang="es-ES" dirty="0">
                <a:sym typeface="Wingdings" panose="05000000000000000000" pitchFamily="2" charset="2"/>
              </a:rPr>
              <a:t> verifica F = I*L*B</a:t>
            </a:r>
          </a:p>
          <a:p>
            <a:r>
              <a:rPr lang="es-ES" dirty="0">
                <a:sym typeface="Wingdings" panose="05000000000000000000" pitchFamily="2" charset="2"/>
              </a:rPr>
              <a:t>Nota: No se mencionó anteriormente, pero el campo magnético obtenido es el mismo en ambas mediciones (0,07T). </a:t>
            </a:r>
            <a:endParaRPr lang="es-ES" dirty="0"/>
          </a:p>
        </p:txBody>
      </p:sp>
      <p:pic>
        <p:nvPicPr>
          <p:cNvPr id="4" name="Marcador de contenido 3" descr="Gráfico, Gráfico de dispersión&#10;&#10;Descripción generada automáticamente">
            <a:extLst>
              <a:ext uri="{FF2B5EF4-FFF2-40B4-BE49-F238E27FC236}">
                <a16:creationId xmlns:a16="http://schemas.microsoft.com/office/drawing/2014/main" id="{ABB3C5D9-3C1E-908D-2FD4-3E4A2E076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798" y="3593638"/>
            <a:ext cx="5365260" cy="2718262"/>
          </a:xfrm>
          <a:prstGeom prst="rect">
            <a:avLst/>
          </a:prstGeom>
        </p:spPr>
      </p:pic>
      <p:pic>
        <p:nvPicPr>
          <p:cNvPr id="5" name="Marcador de contenido 3" descr="Gráfico, Gráfico de dispersión&#10;&#10;Descripción generada automáticamente">
            <a:extLst>
              <a:ext uri="{FF2B5EF4-FFF2-40B4-BE49-F238E27FC236}">
                <a16:creationId xmlns:a16="http://schemas.microsoft.com/office/drawing/2014/main" id="{6F89856C-4151-C0F1-1ABC-E1A71571E9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7426" y="3593638"/>
            <a:ext cx="4833658" cy="2718262"/>
          </a:xfrm>
          <a:prstGeom prst="rect">
            <a:avLst/>
          </a:prstGeom>
        </p:spPr>
      </p:pic>
    </p:spTree>
    <p:extLst>
      <p:ext uri="{BB962C8B-B14F-4D97-AF65-F5344CB8AC3E}">
        <p14:creationId xmlns:p14="http://schemas.microsoft.com/office/powerpoint/2010/main" val="15895886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408</Words>
  <Application>Microsoft Office PowerPoint</Application>
  <PresentationFormat>Panorámica</PresentationFormat>
  <Paragraphs>37</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Calibri Light</vt:lpstr>
      <vt:lpstr>Tema de Office</vt:lpstr>
      <vt:lpstr>Fuerza magnética sobre una corriente eléctrica</vt:lpstr>
      <vt:lpstr>Fundamento teórico para la realización de la práctica</vt:lpstr>
      <vt:lpstr>Materiales y procedimiento experimental</vt:lpstr>
      <vt:lpstr>Procedimiento para la práctica</vt:lpstr>
      <vt:lpstr>Análisis. Fuerza en función de la corriente. Cálculo del campo magnético</vt:lpstr>
      <vt:lpstr>Análisis. Fuerza en función de la longitud. Medida del campo magnético.</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Fuerza magnética sobre una corriente eléctrica</dc:title>
  <dc:creator>Paula Alguacil Fernández</dc:creator>
  <cp:lastModifiedBy>Moises Montes Iglesias</cp:lastModifiedBy>
  <cp:revision>5</cp:revision>
  <dcterms:created xsi:type="dcterms:W3CDTF">2023-04-24T09:18:53Z</dcterms:created>
  <dcterms:modified xsi:type="dcterms:W3CDTF">2023-04-24T13:52:17Z</dcterms:modified>
</cp:coreProperties>
</file>